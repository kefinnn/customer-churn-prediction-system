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68644" autoAdjust="0"/>
  </p:normalViewPr>
  <p:slideViewPr>
    <p:cSldViewPr snapToGrid="0" snapToObjects="1">
      <p:cViewPr varScale="1">
        <p:scale>
          <a:sx n="100" d="100"/>
          <a:sy n="100" d="100"/>
        </p:scale>
        <p:origin x="191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D" sz="1800" b="0" i="0" u="none" strike="noStrike">
                <a:solidFill>
                  <a:srgbClr val="000000"/>
                </a:solidFill>
                <a:latin typeface="Arial"/>
              </a:rPr>
              <a:t>Distribusi 7.402 Pelanggan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Pelanggan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344-42F6-8A2A-2430496CD9EA}"/>
              </c:ext>
            </c:extLst>
          </c:dPt>
          <c:dPt>
            <c:idx val="1"/>
            <c:bubble3D val="0"/>
            <c:spPr>
              <a:solidFill>
                <a:srgbClr val="F9731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344-42F6-8A2A-2430496CD9EA}"/>
              </c:ext>
            </c:extLst>
          </c:dPt>
          <c:dPt>
            <c:idx val="2"/>
            <c:bubble3D val="0"/>
            <c:spPr>
              <a:solidFill>
                <a:srgbClr val="EAB30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344-42F6-8A2A-2430496CD9EA}"/>
              </c:ext>
            </c:extLst>
          </c:dPt>
          <c:dPt>
            <c:idx val="3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344-42F6-8A2A-2430496CD9EA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344-42F6-8A2A-2430496CD9EA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344-42F6-8A2A-2430496CD9EA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344-42F6-8A2A-2430496CD9EA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344-42F6-8A2A-2430496CD9EA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Kritis (≥75%)</c:v>
                </c:pt>
                <c:pt idx="1">
                  <c:v>Tinggi (50-74%)</c:v>
                </c:pt>
                <c:pt idx="2">
                  <c:v>Sedang (30-49%)</c:v>
                </c:pt>
                <c:pt idx="3">
                  <c:v>Rendah (&lt;30%)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3670</c:v>
                </c:pt>
                <c:pt idx="1">
                  <c:v>391</c:v>
                </c:pt>
                <c:pt idx="2">
                  <c:v>420</c:v>
                </c:pt>
                <c:pt idx="3">
                  <c:v>2921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344-42F6-8A2A-2430496CD9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2243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/>
              <a:t>"</a:t>
            </a:r>
            <a:r>
              <a:rPr lang="en-ID" dirty="0" err="1"/>
              <a:t>Bagaimana</a:t>
            </a:r>
            <a:r>
              <a:rPr lang="en-ID" dirty="0"/>
              <a:t> </a:t>
            </a:r>
            <a:r>
              <a:rPr lang="en-ID" dirty="0" err="1"/>
              <a:t>jika</a:t>
            </a:r>
            <a:r>
              <a:rPr lang="en-ID" dirty="0"/>
              <a:t>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mencegah</a:t>
            </a:r>
            <a:r>
              <a:rPr lang="en-ID" dirty="0"/>
              <a:t> </a:t>
            </a:r>
            <a:r>
              <a:rPr lang="en-ID" dirty="0" err="1"/>
              <a:t>kerugian</a:t>
            </a:r>
            <a:r>
              <a:rPr lang="en-ID" dirty="0"/>
              <a:t> </a:t>
            </a:r>
            <a:r>
              <a:rPr lang="en-ID" dirty="0" err="1"/>
              <a:t>hingga</a:t>
            </a:r>
            <a:r>
              <a:rPr lang="en-ID" dirty="0"/>
              <a:t> 7,56 </a:t>
            </a:r>
            <a:r>
              <a:rPr lang="en-ID" dirty="0" err="1"/>
              <a:t>Miliar</a:t>
            </a:r>
            <a:r>
              <a:rPr lang="en-ID" dirty="0"/>
              <a:t> Rupiah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pelanggan</a:t>
            </a:r>
            <a:r>
              <a:rPr lang="en-ID" dirty="0"/>
              <a:t> yang </a:t>
            </a:r>
            <a:r>
              <a:rPr lang="en-ID" dirty="0" err="1"/>
              <a:t>diam-diam</a:t>
            </a:r>
            <a:r>
              <a:rPr lang="en-ID" dirty="0"/>
              <a:t> </a:t>
            </a:r>
            <a:r>
              <a:rPr lang="en-ID" dirty="0" err="1"/>
              <a:t>meninggalkan</a:t>
            </a:r>
            <a:r>
              <a:rPr lang="en-ID" dirty="0"/>
              <a:t> </a:t>
            </a:r>
            <a:r>
              <a:rPr lang="en-ID" dirty="0" err="1"/>
              <a:t>layanan</a:t>
            </a:r>
            <a:r>
              <a:rPr lang="en-ID" dirty="0"/>
              <a:t> </a:t>
            </a:r>
            <a:r>
              <a:rPr lang="en-ID" dirty="0" err="1"/>
              <a:t>kita</a:t>
            </a:r>
            <a:r>
              <a:rPr lang="en-ID" dirty="0"/>
              <a:t>? Saya </a:t>
            </a:r>
            <a:r>
              <a:rPr lang="en-ID" dirty="0" err="1"/>
              <a:t>Khaefin</a:t>
            </a:r>
            <a:r>
              <a:rPr lang="en-ID" dirty="0"/>
              <a:t> Maulana Rizky. Hari </a:t>
            </a:r>
            <a:r>
              <a:rPr lang="en-ID" dirty="0" err="1"/>
              <a:t>ini</a:t>
            </a:r>
            <a:r>
              <a:rPr lang="en-ID" dirty="0"/>
              <a:t>, </a:t>
            </a:r>
            <a:r>
              <a:rPr lang="en-ID" dirty="0" err="1"/>
              <a:t>saya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mempresentasikan</a:t>
            </a:r>
            <a:r>
              <a:rPr lang="en-ID" dirty="0"/>
              <a:t> </a:t>
            </a:r>
            <a:r>
              <a:rPr lang="en-ID" dirty="0" err="1"/>
              <a:t>solusi</a:t>
            </a:r>
            <a:r>
              <a:rPr lang="en-ID" dirty="0"/>
              <a:t> </a:t>
            </a:r>
            <a:r>
              <a:rPr lang="en-ID" dirty="0" err="1"/>
              <a:t>strategis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menjawab</a:t>
            </a:r>
            <a:r>
              <a:rPr lang="en-ID" dirty="0"/>
              <a:t> </a:t>
            </a:r>
            <a:r>
              <a:rPr lang="en-ID" dirty="0" err="1"/>
              <a:t>tantangan</a:t>
            </a:r>
            <a:r>
              <a:rPr lang="en-ID" dirty="0"/>
              <a:t> </a:t>
            </a:r>
            <a:r>
              <a:rPr lang="en-ID" dirty="0" err="1"/>
              <a:t>tersebut</a:t>
            </a:r>
            <a:r>
              <a:rPr lang="en-ID" dirty="0"/>
              <a:t>: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Deteksi</a:t>
            </a:r>
            <a:r>
              <a:rPr lang="en-ID" dirty="0"/>
              <a:t> Dini </a:t>
            </a:r>
            <a:r>
              <a:rPr lang="en-ID" dirty="0" err="1"/>
              <a:t>Pelanggan</a:t>
            </a:r>
            <a:r>
              <a:rPr lang="en-ID" dirty="0"/>
              <a:t> </a:t>
            </a:r>
            <a:r>
              <a:rPr lang="en-ID" dirty="0" err="1"/>
              <a:t>Berisiko</a:t>
            </a:r>
            <a:r>
              <a:rPr lang="en-ID" dirty="0"/>
              <a:t> </a:t>
            </a:r>
            <a:r>
              <a:rPr lang="en-ID" i="1" dirty="0"/>
              <a:t>Churn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 Machine Learning. </a:t>
            </a:r>
            <a:r>
              <a:rPr lang="en-ID" dirty="0" err="1"/>
              <a:t>Presentasi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berfokus</a:t>
            </a:r>
            <a:r>
              <a:rPr lang="en-ID" dirty="0"/>
              <a:t> pada </a:t>
            </a:r>
            <a:r>
              <a:rPr lang="en-ID" dirty="0" err="1"/>
              <a:t>bagaimana</a:t>
            </a:r>
            <a:r>
              <a:rPr lang="en-ID" dirty="0"/>
              <a:t>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mengubah</a:t>
            </a:r>
            <a:r>
              <a:rPr lang="en-ID" dirty="0"/>
              <a:t> data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aksi</a:t>
            </a:r>
            <a:r>
              <a:rPr lang="en-ID" dirty="0"/>
              <a:t> </a:t>
            </a:r>
            <a:r>
              <a:rPr lang="en-ID" dirty="0" err="1"/>
              <a:t>nyata</a:t>
            </a:r>
            <a:r>
              <a:rPr lang="en-ID" dirty="0"/>
              <a:t> yang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konkret</a:t>
            </a:r>
            <a:r>
              <a:rPr lang="en-ID" dirty="0"/>
              <a:t> </a:t>
            </a:r>
            <a:r>
              <a:rPr lang="en-ID" dirty="0" err="1"/>
              <a:t>mampu</a:t>
            </a:r>
            <a:r>
              <a:rPr lang="en-ID" dirty="0"/>
              <a:t> </a:t>
            </a:r>
            <a:r>
              <a:rPr lang="en-ID" dirty="0" err="1"/>
              <a:t>melindungi</a:t>
            </a:r>
            <a:r>
              <a:rPr lang="en-ID" dirty="0"/>
              <a:t> </a:t>
            </a:r>
            <a:r>
              <a:rPr lang="en-ID" dirty="0" err="1"/>
              <a:t>pendapatan</a:t>
            </a:r>
            <a:r>
              <a:rPr lang="en-ID" dirty="0"/>
              <a:t> </a:t>
            </a:r>
            <a:r>
              <a:rPr lang="en-ID" dirty="0" err="1"/>
              <a:t>perusahaan</a:t>
            </a:r>
            <a:r>
              <a:rPr lang="en-ID" dirty="0"/>
              <a:t>."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b="1" dirty="0"/>
              <a:t>Slide 2: Business Problem</a:t>
            </a:r>
            <a:r>
              <a:rPr lang="en-ID" dirty="0"/>
              <a:t> </a:t>
            </a:r>
            <a:br>
              <a:rPr lang="en-ID" dirty="0"/>
            </a:br>
            <a:r>
              <a:rPr lang="en-ID" i="1" dirty="0"/>
              <a:t>[Jeda </a:t>
            </a:r>
            <a:r>
              <a:rPr lang="en-ID" i="1" dirty="0" err="1"/>
              <a:t>sejenak</a:t>
            </a:r>
            <a:r>
              <a:rPr lang="en-ID" i="1" dirty="0"/>
              <a:t> </a:t>
            </a:r>
            <a:r>
              <a:rPr lang="en-ID" i="1" dirty="0" err="1"/>
              <a:t>untuk</a:t>
            </a:r>
            <a:r>
              <a:rPr lang="en-ID" i="1" dirty="0"/>
              <a:t> </a:t>
            </a:r>
            <a:r>
              <a:rPr lang="en-ID" i="1" dirty="0" err="1"/>
              <a:t>penekanan</a:t>
            </a:r>
            <a:r>
              <a:rPr lang="en-ID" i="1" dirty="0"/>
              <a:t>]</a:t>
            </a:r>
            <a:r>
              <a:rPr lang="en-ID" dirty="0"/>
              <a:t> </a:t>
            </a:r>
            <a:br>
              <a:rPr lang="en-ID" dirty="0"/>
            </a:br>
            <a:r>
              <a:rPr lang="en-ID" dirty="0"/>
              <a:t>"Mari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bedah</a:t>
            </a:r>
            <a:r>
              <a:rPr lang="en-ID" dirty="0"/>
              <a:t> </a:t>
            </a:r>
            <a:r>
              <a:rPr lang="en-ID" dirty="0" err="1"/>
              <a:t>masalah</a:t>
            </a:r>
            <a:r>
              <a:rPr lang="en-ID" dirty="0"/>
              <a:t> </a:t>
            </a:r>
            <a:r>
              <a:rPr lang="en-ID" dirty="0" err="1"/>
              <a:t>intinya</a:t>
            </a:r>
            <a:r>
              <a:rPr lang="en-ID" dirty="0"/>
              <a:t>. </a:t>
            </a:r>
            <a:r>
              <a:rPr lang="en-ID" dirty="0" err="1"/>
              <a:t>Mengapa</a:t>
            </a:r>
            <a:r>
              <a:rPr lang="en-ID" dirty="0"/>
              <a:t> </a:t>
            </a:r>
            <a:r>
              <a:rPr lang="en-ID" i="1" dirty="0"/>
              <a:t>churn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ancaman</a:t>
            </a:r>
            <a:r>
              <a:rPr lang="en-ID" dirty="0"/>
              <a:t> </a:t>
            </a:r>
            <a:r>
              <a:rPr lang="en-ID" dirty="0" err="1"/>
              <a:t>senyap</a:t>
            </a:r>
            <a:r>
              <a:rPr lang="en-ID" dirty="0"/>
              <a:t> yang sangat </a:t>
            </a:r>
            <a:r>
              <a:rPr lang="en-ID" dirty="0" err="1"/>
              <a:t>berbahaya</a:t>
            </a:r>
            <a:r>
              <a:rPr lang="en-ID" dirty="0"/>
              <a:t> </a:t>
            </a:r>
            <a:r>
              <a:rPr lang="en-ID" dirty="0" err="1"/>
              <a:t>bagi</a:t>
            </a:r>
            <a:r>
              <a:rPr lang="en-ID" dirty="0"/>
              <a:t> </a:t>
            </a:r>
            <a:r>
              <a:rPr lang="en-ID" dirty="0" err="1"/>
              <a:t>bisnis</a:t>
            </a:r>
            <a:r>
              <a:rPr lang="en-ID" dirty="0"/>
              <a:t>? </a:t>
            </a:r>
          </a:p>
          <a:p>
            <a:r>
              <a:rPr lang="en-ID" dirty="0" err="1"/>
              <a:t>Pertama</a:t>
            </a:r>
            <a:r>
              <a:rPr lang="en-ID" dirty="0"/>
              <a:t>,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finansial</a:t>
            </a:r>
            <a:r>
              <a:rPr lang="en-ID" dirty="0"/>
              <a:t>, </a:t>
            </a:r>
            <a:r>
              <a:rPr lang="en-ID" dirty="0" err="1"/>
              <a:t>biaya</a:t>
            </a:r>
            <a:r>
              <a:rPr lang="en-ID" dirty="0"/>
              <a:t> </a:t>
            </a:r>
            <a:r>
              <a:rPr lang="en-ID" dirty="0" err="1"/>
              <a:t>akuisisi</a:t>
            </a:r>
            <a:r>
              <a:rPr lang="en-ID" dirty="0"/>
              <a:t> </a:t>
            </a:r>
            <a:r>
              <a:rPr lang="en-ID" dirty="0" err="1"/>
              <a:t>pelanggan</a:t>
            </a:r>
            <a:r>
              <a:rPr lang="en-ID" dirty="0"/>
              <a:t> </a:t>
            </a:r>
            <a:r>
              <a:rPr lang="en-ID" dirty="0" err="1"/>
              <a:t>baru</a:t>
            </a:r>
            <a:r>
              <a:rPr lang="en-ID" dirty="0"/>
              <a:t> 5 </a:t>
            </a:r>
            <a:r>
              <a:rPr lang="en-ID" dirty="0" err="1"/>
              <a:t>hingga</a:t>
            </a:r>
            <a:r>
              <a:rPr lang="en-ID" dirty="0"/>
              <a:t> 7 kali </a:t>
            </a:r>
            <a:r>
              <a:rPr lang="en-ID" dirty="0" err="1"/>
              <a:t>lebih</a:t>
            </a:r>
            <a:r>
              <a:rPr lang="en-ID" dirty="0"/>
              <a:t> mahal </a:t>
            </a:r>
            <a:r>
              <a:rPr lang="en-ID" dirty="0" err="1"/>
              <a:t>dibandingkan</a:t>
            </a:r>
            <a:r>
              <a:rPr lang="en-ID" dirty="0"/>
              <a:t> </a:t>
            </a:r>
            <a:r>
              <a:rPr lang="en-ID" dirty="0" err="1"/>
              <a:t>mempertahankan</a:t>
            </a:r>
            <a:r>
              <a:rPr lang="en-ID" dirty="0"/>
              <a:t> </a:t>
            </a:r>
            <a:r>
              <a:rPr lang="en-ID" dirty="0" err="1"/>
              <a:t>pelanggan</a:t>
            </a:r>
            <a:r>
              <a:rPr lang="en-ID" dirty="0"/>
              <a:t> yang </a:t>
            </a:r>
            <a:r>
              <a:rPr lang="en-ID" dirty="0" err="1"/>
              <a:t>sudah</a:t>
            </a:r>
            <a:r>
              <a:rPr lang="en-ID" dirty="0"/>
              <a:t> </a:t>
            </a:r>
            <a:r>
              <a:rPr lang="en-ID" dirty="0" err="1"/>
              <a:t>ada</a:t>
            </a:r>
            <a:r>
              <a:rPr lang="en-ID" dirty="0"/>
              <a:t>. </a:t>
            </a:r>
          </a:p>
          <a:p>
            <a:endParaRPr lang="en-ID" dirty="0"/>
          </a:p>
          <a:p>
            <a:r>
              <a:rPr lang="en-ID" dirty="0" err="1"/>
              <a:t>Kedua</a:t>
            </a:r>
            <a:r>
              <a:rPr lang="en-ID" dirty="0"/>
              <a:t>, </a:t>
            </a:r>
            <a:r>
              <a:rPr lang="en-ID" i="1" dirty="0"/>
              <a:t>churn</a:t>
            </a:r>
            <a:r>
              <a:rPr lang="en-ID" dirty="0"/>
              <a:t> </a:t>
            </a:r>
            <a:r>
              <a:rPr lang="en-ID" dirty="0" err="1"/>
              <a:t>terjadi</a:t>
            </a:r>
            <a:r>
              <a:rPr lang="en-ID" dirty="0"/>
              <a:t> </a:t>
            </a:r>
            <a:r>
              <a:rPr lang="en-ID" dirty="0" err="1"/>
              <a:t>tanpa</a:t>
            </a:r>
            <a:r>
              <a:rPr lang="en-ID" dirty="0"/>
              <a:t> </a:t>
            </a:r>
            <a:r>
              <a:rPr lang="en-ID" dirty="0" err="1"/>
              <a:t>peringatan</a:t>
            </a:r>
            <a:r>
              <a:rPr lang="en-ID" dirty="0"/>
              <a:t> </a:t>
            </a:r>
            <a:r>
              <a:rPr lang="en-ID" dirty="0" err="1"/>
              <a:t>dini</a:t>
            </a:r>
            <a:r>
              <a:rPr lang="en-ID" dirty="0"/>
              <a:t>. </a:t>
            </a:r>
            <a:r>
              <a:rPr lang="en-ID" dirty="0" err="1"/>
              <a:t>Tanpa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deteksi</a:t>
            </a:r>
            <a:r>
              <a:rPr lang="en-ID" dirty="0"/>
              <a:t> yang </a:t>
            </a:r>
            <a:r>
              <a:rPr lang="en-ID" dirty="0" err="1"/>
              <a:t>berjalan</a:t>
            </a:r>
            <a:r>
              <a:rPr lang="en-ID" dirty="0"/>
              <a:t>,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baru</a:t>
            </a:r>
            <a:r>
              <a:rPr lang="en-ID" dirty="0"/>
              <a:t> </a:t>
            </a:r>
            <a:r>
              <a:rPr lang="en-ID" dirty="0" err="1"/>
              <a:t>menyadari</a:t>
            </a:r>
            <a:r>
              <a:rPr lang="en-ID" dirty="0"/>
              <a:t> </a:t>
            </a:r>
            <a:r>
              <a:rPr lang="en-ID" dirty="0" err="1"/>
              <a:t>kehilangan</a:t>
            </a:r>
            <a:r>
              <a:rPr lang="en-ID" dirty="0"/>
              <a:t> </a:t>
            </a:r>
            <a:r>
              <a:rPr lang="en-ID" dirty="0" err="1"/>
              <a:t>setelah</a:t>
            </a:r>
            <a:r>
              <a:rPr lang="en-ID" dirty="0"/>
              <a:t> </a:t>
            </a:r>
            <a:r>
              <a:rPr lang="en-ID" dirty="0" err="1"/>
              <a:t>pelanggan</a:t>
            </a:r>
            <a:r>
              <a:rPr lang="en-ID" dirty="0"/>
              <a:t> </a:t>
            </a:r>
            <a:r>
              <a:rPr lang="en-ID" dirty="0" err="1"/>
              <a:t>benar-benar</a:t>
            </a:r>
            <a:r>
              <a:rPr lang="en-ID" dirty="0"/>
              <a:t> </a:t>
            </a:r>
            <a:r>
              <a:rPr lang="en-ID" dirty="0" err="1"/>
              <a:t>pergi</a:t>
            </a:r>
            <a:r>
              <a:rPr lang="en-ID" dirty="0"/>
              <a:t>. Dan </a:t>
            </a:r>
          </a:p>
          <a:p>
            <a:endParaRPr lang="en-ID" dirty="0"/>
          </a:p>
          <a:p>
            <a:r>
              <a:rPr lang="en-ID" dirty="0" err="1"/>
              <a:t>ketiga</a:t>
            </a:r>
            <a:r>
              <a:rPr lang="en-ID" dirty="0"/>
              <a:t>, </a:t>
            </a:r>
            <a:r>
              <a:rPr lang="en-ID" dirty="0" err="1"/>
              <a:t>intervensi</a:t>
            </a:r>
            <a:r>
              <a:rPr lang="en-ID" dirty="0"/>
              <a:t> </a:t>
            </a:r>
            <a:r>
              <a:rPr lang="en-ID" dirty="0" err="1"/>
              <a:t>promosi</a:t>
            </a:r>
            <a:r>
              <a:rPr lang="en-ID" dirty="0"/>
              <a:t>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saat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tepat</a:t>
            </a:r>
            <a:r>
              <a:rPr lang="en-ID" dirty="0"/>
              <a:t> </a:t>
            </a:r>
            <a:r>
              <a:rPr lang="en-ID" dirty="0" err="1"/>
              <a:t>sasaran</a:t>
            </a:r>
            <a:r>
              <a:rPr lang="en-ID" dirty="0"/>
              <a:t>. </a:t>
            </a:r>
            <a:r>
              <a:rPr lang="en-ID" dirty="0" err="1"/>
              <a:t>Mengirim</a:t>
            </a:r>
            <a:r>
              <a:rPr lang="en-ID" dirty="0"/>
              <a:t> voucher </a:t>
            </a:r>
            <a:r>
              <a:rPr lang="en-ID" dirty="0" err="1"/>
              <a:t>massal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acak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pemborosan</a:t>
            </a:r>
            <a:r>
              <a:rPr lang="en-ID" dirty="0"/>
              <a:t> </a:t>
            </a:r>
            <a:r>
              <a:rPr lang="en-ID" dirty="0" err="1"/>
              <a:t>anggaran</a:t>
            </a:r>
            <a:r>
              <a:rPr lang="en-ID" dirty="0"/>
              <a:t>. </a:t>
            </a:r>
            <a:r>
              <a:rPr lang="en-ID" dirty="0" err="1"/>
              <a:t>Dengan</a:t>
            </a:r>
            <a:r>
              <a:rPr lang="en-ID" dirty="0"/>
              <a:t> rata-rata </a:t>
            </a:r>
            <a:r>
              <a:rPr lang="en-ID" i="1" dirty="0"/>
              <a:t>Customer Lifetime Value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CLV </a:t>
            </a:r>
            <a:r>
              <a:rPr lang="en-ID" dirty="0" err="1"/>
              <a:t>sebesar</a:t>
            </a:r>
            <a:r>
              <a:rPr lang="en-ID" dirty="0"/>
              <a:t> 2 </a:t>
            </a:r>
            <a:r>
              <a:rPr lang="en-ID" dirty="0" err="1"/>
              <a:t>juta</a:t>
            </a:r>
            <a:r>
              <a:rPr lang="en-ID" dirty="0"/>
              <a:t> Rupiah per </a:t>
            </a:r>
            <a:r>
              <a:rPr lang="en-ID" dirty="0" err="1"/>
              <a:t>pelanggan</a:t>
            </a:r>
            <a:r>
              <a:rPr lang="en-ID" dirty="0"/>
              <a:t>, </a:t>
            </a:r>
            <a:r>
              <a:rPr lang="en-ID" dirty="0" err="1"/>
              <a:t>setiap</a:t>
            </a:r>
            <a:r>
              <a:rPr lang="en-ID" dirty="0"/>
              <a:t> </a:t>
            </a:r>
            <a:r>
              <a:rPr lang="en-ID" dirty="0" err="1"/>
              <a:t>kepergian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kerugian</a:t>
            </a:r>
            <a:r>
              <a:rPr lang="en-ID" dirty="0"/>
              <a:t> </a:t>
            </a:r>
            <a:r>
              <a:rPr lang="en-ID" dirty="0" err="1"/>
              <a:t>besar</a:t>
            </a:r>
            <a:r>
              <a:rPr lang="en-ID" dirty="0"/>
              <a:t> yang </a:t>
            </a:r>
            <a:r>
              <a:rPr lang="en-ID" dirty="0" err="1"/>
              <a:t>sebenarnya</a:t>
            </a:r>
            <a:r>
              <a:rPr lang="en-ID" dirty="0"/>
              <a:t>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dicegah</a:t>
            </a:r>
            <a:r>
              <a:rPr lang="en-ID" dirty="0"/>
              <a:t>."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 3: </a:t>
            </a:r>
            <a:r>
              <a:rPr lang="en-ID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Pendekatan</a:t>
            </a:r>
            <a:r>
              <a:rPr lang="en-ID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ID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Metodologi</a:t>
            </a:r>
            <a:r>
              <a:rPr lang="en-ID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en-ID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Untuk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menyelesaikan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masalah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ini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secara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terstruktur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saya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menerapkan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standar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kerangka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kerja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industri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yaitu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metodologi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CRISP-DM.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Pendekatan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ini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memastikan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bahwa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setiap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langkah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teknis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yang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diambil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benar-benar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berakar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pada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kebutuhan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bisnis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Berikut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adalah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penjabarannya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</a:p>
          <a:p>
            <a:r>
              <a:rPr lang="en-ID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Pertama</a:t>
            </a:r>
            <a:r>
              <a:rPr lang="en-ID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Business Understanding</a:t>
            </a:r>
            <a:r>
              <a:rPr lang="en-ID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Kita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berangkat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dari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pemahaman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bisnis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yang solid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dengan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menetapkan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target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utama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yaitu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mendeteksi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profil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berisiko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sebanyak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mungkin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Secara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teknis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ini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diterjemahkan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dengan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mengejar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metrik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Recall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dengan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batas minimal 80%. </a:t>
            </a:r>
          </a:p>
          <a:p>
            <a:r>
              <a:rPr lang="en-ID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Kedua</a:t>
            </a:r>
            <a:r>
              <a:rPr lang="en-ID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Understanding</a:t>
            </a:r>
            <a:r>
              <a:rPr lang="en-ID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Saya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melakukan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audit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profil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yang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komprehensif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terhadap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37.010 baris data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pelanggan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untuk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mengenali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kecacatan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dan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memahami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pola-pola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awal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penyebab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churn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en-ID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Ketiga</a:t>
            </a:r>
            <a:r>
              <a:rPr lang="en-ID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Preparation</a:t>
            </a:r>
            <a:r>
              <a:rPr lang="en-ID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tahap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ini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data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mentah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diolah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agar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siap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diproses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oleh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mesin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Langkah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taktisnya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meliputi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penanganan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kosong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ID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missing values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</a:t>
            </a:r>
            <a:r>
              <a:rPr lang="en-ID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encoding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pada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variabel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kategorikal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hingga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menyeimbangkan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distribusi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kelas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menggunakan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teknik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SMOTE agar model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tidak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bias. </a:t>
            </a:r>
          </a:p>
          <a:p>
            <a:r>
              <a:rPr lang="en-ID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Keempat</a:t>
            </a:r>
            <a:r>
              <a:rPr lang="en-ID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1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Modeling</a:t>
            </a:r>
            <a:r>
              <a:rPr lang="en-ID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Algoritma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Random Forest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dengan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100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pohon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keputusan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dipilih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karena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ketangguhannya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dalam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menangani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kompleks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serta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kemampuannya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membedah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fitur-fitur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apa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saja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yang paling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memengaruhi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keputusan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pelanggan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untuk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pergi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ID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 importance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</a:t>
            </a:r>
          </a:p>
          <a:p>
            <a:r>
              <a:rPr lang="en-ID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Kelima</a:t>
            </a:r>
            <a:r>
              <a:rPr lang="en-ID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Evaluation</a:t>
            </a:r>
            <a:r>
              <a:rPr lang="en-ID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Model yang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telah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dilatih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kemudian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diuji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secara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ketat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pada data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baru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ID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 Set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menggunakan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metrik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Confusion Matrix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dan ROC-AUC,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lalu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hasilnya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dikonversi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menjadi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simulasi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dampak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finansial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agar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mudah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dipahami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oleh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manajemen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b="1" dirty="0"/>
              <a:t>Slide 4: Model Performance</a:t>
            </a:r>
            <a:r>
              <a:rPr lang="en-ID" dirty="0"/>
              <a:t> </a:t>
            </a:r>
          </a:p>
          <a:p>
            <a:r>
              <a:rPr lang="en-ID" dirty="0"/>
              <a:t>"Lalu, </a:t>
            </a:r>
            <a:r>
              <a:rPr lang="en-ID" dirty="0" err="1"/>
              <a:t>bagaimana</a:t>
            </a:r>
            <a:r>
              <a:rPr lang="en-ID" dirty="0"/>
              <a:t> </a:t>
            </a:r>
            <a:r>
              <a:rPr lang="en-ID" dirty="0" err="1"/>
              <a:t>hasil</a:t>
            </a:r>
            <a:r>
              <a:rPr lang="en-ID" dirty="0"/>
              <a:t> </a:t>
            </a:r>
            <a:r>
              <a:rPr lang="en-ID" dirty="0" err="1"/>
              <a:t>performanya</a:t>
            </a:r>
            <a:r>
              <a:rPr lang="en-ID" dirty="0"/>
              <a:t>? </a:t>
            </a:r>
          </a:p>
          <a:p>
            <a:r>
              <a:rPr lang="en-ID" dirty="0"/>
              <a:t>Pada </a:t>
            </a:r>
            <a:r>
              <a:rPr lang="en-ID" dirty="0" err="1"/>
              <a:t>pengujian</a:t>
            </a:r>
            <a:r>
              <a:rPr lang="en-ID" dirty="0"/>
              <a:t> </a:t>
            </a:r>
            <a:r>
              <a:rPr lang="en-ID" dirty="0" err="1"/>
              <a:t>terhadap</a:t>
            </a:r>
            <a:r>
              <a:rPr lang="en-ID" dirty="0"/>
              <a:t> 7.402 data </a:t>
            </a:r>
            <a:r>
              <a:rPr lang="en-ID" dirty="0" err="1"/>
              <a:t>pelanggan</a:t>
            </a:r>
            <a:r>
              <a:rPr lang="en-ID" dirty="0"/>
              <a:t> yang </a:t>
            </a:r>
            <a:r>
              <a:rPr lang="en-ID" dirty="0" err="1"/>
              <a:t>belum</a:t>
            </a:r>
            <a:r>
              <a:rPr lang="en-ID" dirty="0"/>
              <a:t> </a:t>
            </a:r>
            <a:r>
              <a:rPr lang="en-ID" dirty="0" err="1"/>
              <a:t>pernah</a:t>
            </a:r>
            <a:r>
              <a:rPr lang="en-ID" dirty="0"/>
              <a:t> </a:t>
            </a:r>
            <a:r>
              <a:rPr lang="en-ID" dirty="0" err="1"/>
              <a:t>dilihat</a:t>
            </a:r>
            <a:r>
              <a:rPr lang="en-ID" dirty="0"/>
              <a:t> model (</a:t>
            </a:r>
            <a:r>
              <a:rPr lang="en-ID" i="1" dirty="0"/>
              <a:t>Test Set</a:t>
            </a:r>
            <a:r>
              <a:rPr lang="en-ID" dirty="0"/>
              <a:t>), Random Forest </a:t>
            </a:r>
            <a:r>
              <a:rPr lang="en-ID" dirty="0" err="1"/>
              <a:t>mencetak</a:t>
            </a:r>
            <a:r>
              <a:rPr lang="en-ID" dirty="0"/>
              <a:t> </a:t>
            </a:r>
            <a:r>
              <a:rPr lang="en-ID" dirty="0" err="1"/>
              <a:t>performa</a:t>
            </a:r>
            <a:r>
              <a:rPr lang="en-ID" dirty="0"/>
              <a:t> yang </a:t>
            </a:r>
            <a:r>
              <a:rPr lang="en-ID" dirty="0" err="1"/>
              <a:t>luar</a:t>
            </a:r>
            <a:r>
              <a:rPr lang="en-ID" dirty="0"/>
              <a:t> </a:t>
            </a:r>
            <a:r>
              <a:rPr lang="en-ID" dirty="0" err="1"/>
              <a:t>biasa</a:t>
            </a:r>
            <a:r>
              <a:rPr lang="en-ID" dirty="0"/>
              <a:t>. Skor </a:t>
            </a:r>
            <a:r>
              <a:rPr lang="en-ID" i="1" dirty="0"/>
              <a:t>Recall</a:t>
            </a:r>
            <a:r>
              <a:rPr lang="en-ID" dirty="0"/>
              <a:t>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mencapai</a:t>
            </a:r>
            <a:r>
              <a:rPr lang="en-ID" dirty="0"/>
              <a:t> 94,4%, yang </a:t>
            </a:r>
            <a:r>
              <a:rPr lang="en-ID" dirty="0" err="1"/>
              <a:t>berarti</a:t>
            </a:r>
            <a:r>
              <a:rPr lang="en-ID" dirty="0"/>
              <a:t> target 80% </a:t>
            </a:r>
            <a:r>
              <a:rPr lang="en-ID" dirty="0" err="1"/>
              <a:t>telah</a:t>
            </a:r>
            <a:r>
              <a:rPr lang="en-ID" dirty="0"/>
              <a:t> </a:t>
            </a:r>
            <a:r>
              <a:rPr lang="en-ID" dirty="0" err="1"/>
              <a:t>terlampaui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sangat </a:t>
            </a:r>
            <a:r>
              <a:rPr lang="en-ID" dirty="0" err="1"/>
              <a:t>meyakinkan</a:t>
            </a:r>
            <a:r>
              <a:rPr lang="en-ID" dirty="0"/>
              <a:t>. Model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sukses</a:t>
            </a:r>
            <a:r>
              <a:rPr lang="en-ID" dirty="0"/>
              <a:t> </a:t>
            </a:r>
            <a:r>
              <a:rPr lang="en-ID" dirty="0" err="1"/>
              <a:t>mendeteksi</a:t>
            </a:r>
            <a:r>
              <a:rPr lang="en-ID" dirty="0"/>
              <a:t> 3.779 </a:t>
            </a:r>
            <a:r>
              <a:rPr lang="en-ID" dirty="0" err="1"/>
              <a:t>pelanggan</a:t>
            </a:r>
            <a:r>
              <a:rPr lang="en-ID" dirty="0"/>
              <a:t> yang </a:t>
            </a:r>
            <a:r>
              <a:rPr lang="en-ID" dirty="0" err="1"/>
              <a:t>benar-benar</a:t>
            </a:r>
            <a:r>
              <a:rPr lang="en-ID" dirty="0"/>
              <a:t> </a:t>
            </a:r>
            <a:r>
              <a:rPr lang="en-ID" i="1" dirty="0"/>
              <a:t>churn</a:t>
            </a:r>
            <a:r>
              <a:rPr lang="en-ID" dirty="0"/>
              <a:t>.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skor</a:t>
            </a:r>
            <a:r>
              <a:rPr lang="en-ID" dirty="0"/>
              <a:t> ROC-AUC di </a:t>
            </a:r>
            <a:r>
              <a:rPr lang="en-ID" dirty="0" err="1"/>
              <a:t>angka</a:t>
            </a:r>
            <a:r>
              <a:rPr lang="en-ID" dirty="0"/>
              <a:t> 0,978, model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daya</a:t>
            </a:r>
            <a:r>
              <a:rPr lang="en-ID" dirty="0"/>
              <a:t> </a:t>
            </a:r>
            <a:r>
              <a:rPr lang="en-ID" dirty="0" err="1"/>
              <a:t>diskriminasi</a:t>
            </a:r>
            <a:r>
              <a:rPr lang="en-ID" dirty="0"/>
              <a:t> yang sangat </a:t>
            </a:r>
            <a:r>
              <a:rPr lang="en-ID" dirty="0" err="1"/>
              <a:t>tinggi</a:t>
            </a:r>
            <a:r>
              <a:rPr lang="en-ID" dirty="0"/>
              <a:t>. </a:t>
            </a:r>
            <a:r>
              <a:rPr lang="en-ID" i="1" dirty="0"/>
              <a:t>Insight</a:t>
            </a:r>
            <a:r>
              <a:rPr lang="en-ID" dirty="0"/>
              <a:t> </a:t>
            </a:r>
            <a:r>
              <a:rPr lang="en-ID" dirty="0" err="1"/>
              <a:t>penting</a:t>
            </a:r>
            <a:r>
              <a:rPr lang="en-ID" dirty="0"/>
              <a:t> </a:t>
            </a:r>
            <a:r>
              <a:rPr lang="en-ID" dirty="0" err="1"/>
              <a:t>lainnya</a:t>
            </a:r>
            <a:r>
              <a:rPr lang="en-ID" dirty="0"/>
              <a:t>: </a:t>
            </a:r>
            <a:r>
              <a:rPr lang="en-ID" dirty="0" err="1"/>
              <a:t>saldo</a:t>
            </a:r>
            <a:r>
              <a:rPr lang="en-ID" dirty="0"/>
              <a:t> </a:t>
            </a:r>
            <a:r>
              <a:rPr lang="en-ID" dirty="0" err="1"/>
              <a:t>dompet</a:t>
            </a:r>
            <a:r>
              <a:rPr lang="en-ID" dirty="0"/>
              <a:t> (</a:t>
            </a:r>
            <a:r>
              <a:rPr lang="en-ID" i="1" dirty="0"/>
              <a:t>points in wallet</a:t>
            </a:r>
            <a:r>
              <a:rPr lang="en-ID" dirty="0"/>
              <a:t>) dan </a:t>
            </a:r>
            <a:r>
              <a:rPr lang="en-ID" dirty="0" err="1"/>
              <a:t>kategori</a:t>
            </a:r>
            <a:r>
              <a:rPr lang="en-ID" dirty="0"/>
              <a:t> </a:t>
            </a:r>
            <a:r>
              <a:rPr lang="en-ID" dirty="0" err="1"/>
              <a:t>keanggotaan</a:t>
            </a:r>
            <a:r>
              <a:rPr lang="en-ID" dirty="0"/>
              <a:t> </a:t>
            </a:r>
            <a:r>
              <a:rPr lang="en-ID" dirty="0" err="1"/>
              <a:t>terbukti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indikator</a:t>
            </a:r>
            <a:r>
              <a:rPr lang="en-ID" dirty="0"/>
              <a:t> paling </a:t>
            </a:r>
            <a:r>
              <a:rPr lang="en-ID" dirty="0" err="1"/>
              <a:t>kuat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memprediksi</a:t>
            </a:r>
            <a:r>
              <a:rPr lang="en-ID" dirty="0"/>
              <a:t> </a:t>
            </a:r>
            <a:r>
              <a:rPr lang="en-ID" dirty="0" err="1"/>
              <a:t>apakah</a:t>
            </a:r>
            <a:r>
              <a:rPr lang="en-ID" dirty="0"/>
              <a:t> </a:t>
            </a:r>
            <a:r>
              <a:rPr lang="en-ID" dirty="0" err="1"/>
              <a:t>pelanggan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i="1" dirty="0"/>
              <a:t>churn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."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 5: </a:t>
            </a:r>
            <a:r>
              <a:rPr lang="en-ID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Dampak</a:t>
            </a:r>
            <a:r>
              <a:rPr lang="en-ID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Finansial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ID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</a:t>
            </a:r>
            <a:r>
              <a:rPr lang="en-ID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Bicara</a:t>
            </a:r>
            <a:r>
              <a:rPr lang="en-ID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dengan</a:t>
            </a:r>
            <a:r>
              <a:rPr lang="en-ID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tempo </a:t>
            </a:r>
            <a:r>
              <a:rPr lang="en-ID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lebih</a:t>
            </a:r>
            <a:r>
              <a:rPr lang="en-ID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perlahan</a:t>
            </a:r>
            <a:r>
              <a:rPr lang="en-ID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"Mari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kita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terjemahkan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performa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metrik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tadi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dalam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bahasa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finansial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Dengan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asumsi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CLV 2 Juta Rupiah dan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biaya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voucher 150.000 Rupiah per orang: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Pelanggan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churn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yang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terlewat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atau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False Negative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hanya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berjumlah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225 orang,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menekan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kerugian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angka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450 Juta Rupiah.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Sementara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itu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voucher yang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terkirim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percuma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259 orang,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atau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False Positive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hanya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memakan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biaya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38,85 Juta Rupiah. Ini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adalah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sebuah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trade-off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yang sangat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menguntungkan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Hasil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akhirnya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sistem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ini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mampu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menghasilkan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penghematan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efektif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sebesar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7,56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Miliar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Rupiah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dari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pelanggan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churn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yang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berhasil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dideteksi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Ini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membuktikan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mengapa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memaksimalkan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Recall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adalah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langkah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yang sangat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krusial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  <a:r>
              <a:rPr lang="en-ID" dirty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 6: Strategi </a:t>
            </a:r>
            <a:r>
              <a:rPr lang="en-ID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Retensi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Namun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deteksi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saja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tidak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cukup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tanpa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tindakan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Saya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telah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merancang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segmentasi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otomatis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dalam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4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tingkatan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intervensi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</a:p>
          <a:p>
            <a:endParaRPr lang="en-ID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Segmen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Kritis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probabilitas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atas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75%):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Terdiri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dari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3.670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pelanggan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Kita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berlakukan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kontak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CS personal dan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diskon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eksklusif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30%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dalam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waktu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24 jam. </a:t>
            </a:r>
          </a:p>
          <a:p>
            <a:endParaRPr lang="en-ID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Segmen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Tinggi (50-74%): 391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pelanggan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Kita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berikan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voucher </a:t>
            </a:r>
            <a:r>
              <a:rPr lang="en-ID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cashback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20%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dalam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3-5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hari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n-ID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Segmen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Sedang (30-49%): 420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pelanggan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Mendapat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email </a:t>
            </a:r>
            <a:r>
              <a:rPr lang="en-ID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engagement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dan bonus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poin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dalam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1-2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minggu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n-ID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Segmen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Rendah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(di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bawah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30%):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Cukup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dijaga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melalui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newsletter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bulanan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Seluruh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segmentasi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ini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akan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berjalan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otomatis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memicu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intervensi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tanpa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perlu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proses manual."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b="1" dirty="0"/>
              <a:t>Slide 7: </a:t>
            </a:r>
            <a:r>
              <a:rPr lang="en-ID" b="1" dirty="0" err="1"/>
              <a:t>Rencana</a:t>
            </a:r>
            <a:r>
              <a:rPr lang="en-ID" b="1" dirty="0"/>
              <a:t> Deployment</a:t>
            </a:r>
            <a:r>
              <a:rPr lang="en-ID" dirty="0"/>
              <a:t> </a:t>
            </a:r>
          </a:p>
          <a:p>
            <a:r>
              <a:rPr lang="en-ID" dirty="0"/>
              <a:t>"</a:t>
            </a:r>
            <a:r>
              <a:rPr lang="en-ID" dirty="0" err="1"/>
              <a:t>Bagaimana</a:t>
            </a:r>
            <a:r>
              <a:rPr lang="en-ID" dirty="0"/>
              <a:t> </a:t>
            </a:r>
            <a:r>
              <a:rPr lang="en-ID" dirty="0" err="1"/>
              <a:t>peta</a:t>
            </a:r>
            <a:r>
              <a:rPr lang="en-ID" dirty="0"/>
              <a:t> </a:t>
            </a:r>
            <a:r>
              <a:rPr lang="en-ID" dirty="0" err="1"/>
              <a:t>jalan</a:t>
            </a:r>
            <a:r>
              <a:rPr lang="en-ID" dirty="0"/>
              <a:t> </a:t>
            </a:r>
            <a:r>
              <a:rPr lang="en-ID" dirty="0" err="1"/>
              <a:t>operasionalnya</a:t>
            </a:r>
            <a:r>
              <a:rPr lang="en-ID" dirty="0"/>
              <a:t>? </a:t>
            </a:r>
          </a:p>
          <a:p>
            <a:endParaRPr lang="en-ID" dirty="0"/>
          </a:p>
          <a:p>
            <a:r>
              <a:rPr lang="en-ID" dirty="0"/>
              <a:t>Di </a:t>
            </a:r>
            <a:r>
              <a:rPr lang="en-ID" dirty="0" err="1"/>
              <a:t>Minggu</a:t>
            </a:r>
            <a:r>
              <a:rPr lang="en-ID" dirty="0"/>
              <a:t> ke-1 </a:t>
            </a:r>
            <a:r>
              <a:rPr lang="en-ID" dirty="0" err="1"/>
              <a:t>hingga</a:t>
            </a:r>
            <a:r>
              <a:rPr lang="en-ID" dirty="0"/>
              <a:t> 2, </a:t>
            </a:r>
            <a:r>
              <a:rPr lang="en-ID" dirty="0" err="1"/>
              <a:t>kita</a:t>
            </a:r>
            <a:r>
              <a:rPr lang="en-ID" dirty="0"/>
              <a:t> men-</a:t>
            </a:r>
            <a:r>
              <a:rPr lang="en-ID" i="1" dirty="0"/>
              <a:t>deploy</a:t>
            </a:r>
            <a:r>
              <a:rPr lang="en-ID" dirty="0"/>
              <a:t> model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i="1" dirty="0"/>
              <a:t>data warehouse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i="1" dirty="0"/>
              <a:t>scoring</a:t>
            </a:r>
            <a:r>
              <a:rPr lang="en-ID" dirty="0"/>
              <a:t> </a:t>
            </a:r>
            <a:r>
              <a:rPr lang="en-ID" dirty="0" err="1"/>
              <a:t>otomatis</a:t>
            </a:r>
            <a:r>
              <a:rPr lang="en-ID" dirty="0"/>
              <a:t> </a:t>
            </a:r>
            <a:r>
              <a:rPr lang="en-ID" dirty="0" err="1"/>
              <a:t>harian</a:t>
            </a:r>
            <a:r>
              <a:rPr lang="en-ID" dirty="0"/>
              <a:t>. </a:t>
            </a:r>
          </a:p>
          <a:p>
            <a:endParaRPr lang="en-ID" dirty="0"/>
          </a:p>
          <a:p>
            <a:r>
              <a:rPr lang="en-ID" dirty="0" err="1"/>
              <a:t>Minggu</a:t>
            </a:r>
            <a:r>
              <a:rPr lang="en-ID" dirty="0"/>
              <a:t> ke-3 </a:t>
            </a:r>
            <a:r>
              <a:rPr lang="en-ID" dirty="0" err="1"/>
              <a:t>hingga</a:t>
            </a:r>
            <a:r>
              <a:rPr lang="en-ID" dirty="0"/>
              <a:t> 4 </a:t>
            </a:r>
            <a:r>
              <a:rPr lang="en-ID" dirty="0" err="1"/>
              <a:t>difokuskan</a:t>
            </a:r>
            <a:r>
              <a:rPr lang="en-ID" dirty="0"/>
              <a:t> pada </a:t>
            </a:r>
            <a:r>
              <a:rPr lang="en-ID" dirty="0" err="1"/>
              <a:t>integrasi</a:t>
            </a:r>
            <a:r>
              <a:rPr lang="en-ID" dirty="0"/>
              <a:t> </a:t>
            </a:r>
            <a:r>
              <a:rPr lang="en-ID" i="1" dirty="0"/>
              <a:t>output</a:t>
            </a:r>
            <a:r>
              <a:rPr lang="en-ID" dirty="0"/>
              <a:t> </a:t>
            </a:r>
            <a:r>
              <a:rPr lang="en-ID" dirty="0" err="1"/>
              <a:t>segmentasi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CRM. </a:t>
            </a:r>
          </a:p>
          <a:p>
            <a:endParaRPr lang="en-ID" dirty="0"/>
          </a:p>
          <a:p>
            <a:r>
              <a:rPr lang="en-ID" dirty="0"/>
              <a:t>Di Bulan ke-2,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menjalankan</a:t>
            </a:r>
            <a:r>
              <a:rPr lang="en-ID" dirty="0"/>
              <a:t> A/B Testing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mengukur</a:t>
            </a:r>
            <a:r>
              <a:rPr lang="en-ID" dirty="0"/>
              <a:t> </a:t>
            </a:r>
            <a:r>
              <a:rPr lang="en-ID" i="1" dirty="0"/>
              <a:t>uplift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aktual</a:t>
            </a:r>
            <a:r>
              <a:rPr lang="en-ID" dirty="0"/>
              <a:t>. S</a:t>
            </a:r>
          </a:p>
          <a:p>
            <a:endParaRPr lang="en-ID" dirty="0"/>
          </a:p>
          <a:p>
            <a:r>
              <a:rPr lang="en-ID" dirty="0" err="1"/>
              <a:t>edangkan</a:t>
            </a:r>
            <a:r>
              <a:rPr lang="en-ID" dirty="0"/>
              <a:t> Bulan ke-3 dan </a:t>
            </a:r>
            <a:r>
              <a:rPr lang="en-ID" dirty="0" err="1"/>
              <a:t>seterusnya</a:t>
            </a:r>
            <a:r>
              <a:rPr lang="en-ID" dirty="0"/>
              <a:t> </a:t>
            </a:r>
            <a:r>
              <a:rPr lang="en-ID" dirty="0" err="1"/>
              <a:t>dialokasikan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pemantauan</a:t>
            </a:r>
            <a:r>
              <a:rPr lang="en-ID" dirty="0"/>
              <a:t> dan </a:t>
            </a:r>
            <a:r>
              <a:rPr lang="en-ID" i="1" dirty="0"/>
              <a:t>retraining</a:t>
            </a:r>
            <a:r>
              <a:rPr lang="en-ID" dirty="0"/>
              <a:t>.</a:t>
            </a:r>
          </a:p>
          <a:p>
            <a:endParaRPr lang="en-ID" dirty="0"/>
          </a:p>
          <a:p>
            <a:r>
              <a:rPr lang="en-ID" dirty="0"/>
              <a:t> </a:t>
            </a:r>
            <a:r>
              <a:rPr lang="en-ID" dirty="0" err="1"/>
              <a:t>Ekosistem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melibatkan</a:t>
            </a:r>
            <a:r>
              <a:rPr lang="en-ID" dirty="0"/>
              <a:t> </a:t>
            </a:r>
            <a:r>
              <a:rPr lang="en-ID" dirty="0" err="1"/>
              <a:t>Manajemen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memantau</a:t>
            </a:r>
            <a:r>
              <a:rPr lang="en-ID" dirty="0"/>
              <a:t> ROI, Business Analyst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tren</a:t>
            </a:r>
            <a:r>
              <a:rPr lang="en-ID" dirty="0"/>
              <a:t> </a:t>
            </a:r>
            <a:r>
              <a:rPr lang="en-ID" dirty="0" err="1"/>
              <a:t>segmen</a:t>
            </a:r>
            <a:r>
              <a:rPr lang="en-ID" dirty="0"/>
              <a:t>, </a:t>
            </a:r>
            <a:r>
              <a:rPr lang="en-ID" dirty="0" err="1"/>
              <a:t>tim</a:t>
            </a:r>
            <a:r>
              <a:rPr lang="en-ID" dirty="0"/>
              <a:t> CRM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eksekusi</a:t>
            </a:r>
            <a:r>
              <a:rPr lang="en-ID" dirty="0"/>
              <a:t> </a:t>
            </a:r>
            <a:r>
              <a:rPr lang="en-ID" dirty="0" err="1"/>
              <a:t>kampanye</a:t>
            </a:r>
            <a:r>
              <a:rPr lang="en-ID" dirty="0"/>
              <a:t>, </a:t>
            </a:r>
            <a:r>
              <a:rPr lang="en-ID" dirty="0" err="1"/>
              <a:t>serta</a:t>
            </a:r>
            <a:r>
              <a:rPr lang="en-ID" dirty="0"/>
              <a:t> Data Engineer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memelihara</a:t>
            </a:r>
            <a:r>
              <a:rPr lang="en-ID" dirty="0"/>
              <a:t> </a:t>
            </a:r>
            <a:r>
              <a:rPr lang="en-ID" i="1" dirty="0"/>
              <a:t>pipeline</a:t>
            </a:r>
            <a:r>
              <a:rPr lang="en-ID" dirty="0"/>
              <a:t> </a:t>
            </a:r>
            <a:r>
              <a:rPr lang="en-ID" i="1" dirty="0"/>
              <a:t>machine learning</a:t>
            </a:r>
            <a:r>
              <a:rPr lang="en-ID" dirty="0"/>
              <a:t> </a:t>
            </a:r>
            <a:r>
              <a:rPr lang="en-ID" dirty="0" err="1"/>
              <a:t>kita</a:t>
            </a:r>
            <a:r>
              <a:rPr lang="en-ID" dirty="0"/>
              <a:t>."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kesimpulan</a:t>
            </a:r>
            <a:r>
              <a:rPr lang="en-ID" dirty="0"/>
              <a:t>,</a:t>
            </a:r>
          </a:p>
          <a:p>
            <a:endParaRPr lang="en-ID" dirty="0"/>
          </a:p>
          <a:p>
            <a:r>
              <a:rPr lang="en-ID" dirty="0" err="1"/>
              <a:t>Melalui</a:t>
            </a:r>
            <a:r>
              <a:rPr lang="en-ID" dirty="0"/>
              <a:t> proses </a:t>
            </a:r>
            <a:r>
              <a:rPr lang="en-ID" dirty="0" err="1"/>
              <a:t>rekayasa</a:t>
            </a:r>
            <a:r>
              <a:rPr lang="en-ID" dirty="0"/>
              <a:t> data yang </a:t>
            </a:r>
            <a:r>
              <a:rPr lang="en-ID" dirty="0" err="1"/>
              <a:t>presisi</a:t>
            </a:r>
            <a:r>
              <a:rPr lang="en-ID" dirty="0"/>
              <a:t>,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merubah</a:t>
            </a:r>
            <a:r>
              <a:rPr lang="en-ID" dirty="0"/>
              <a:t> </a:t>
            </a:r>
            <a:r>
              <a:rPr lang="en-ID" dirty="0" err="1"/>
              <a:t>kebiasaan</a:t>
            </a:r>
            <a:r>
              <a:rPr lang="en-ID" dirty="0"/>
              <a:t> </a:t>
            </a:r>
            <a:r>
              <a:rPr lang="en-ID" dirty="0" err="1"/>
              <a:t>promosi</a:t>
            </a:r>
            <a:r>
              <a:rPr lang="en-ID" dirty="0"/>
              <a:t> </a:t>
            </a:r>
            <a:r>
              <a:rPr lang="en-ID" dirty="0" err="1"/>
              <a:t>berbasis</a:t>
            </a:r>
            <a:r>
              <a:rPr lang="en-ID" dirty="0"/>
              <a:t> '</a:t>
            </a:r>
            <a:r>
              <a:rPr lang="en-ID" dirty="0" err="1"/>
              <a:t>insting</a:t>
            </a:r>
            <a:r>
              <a:rPr lang="en-ID" dirty="0"/>
              <a:t>' </a:t>
            </a:r>
            <a:r>
              <a:rPr lang="en-ID" dirty="0" err="1"/>
              <a:t>menjadi</a:t>
            </a:r>
            <a:r>
              <a:rPr lang="en-ID" dirty="0"/>
              <a:t> strategi </a:t>
            </a:r>
            <a:r>
              <a:rPr lang="en-ID" dirty="0" err="1"/>
              <a:t>berbasis</a:t>
            </a:r>
            <a:r>
              <a:rPr lang="en-ID" dirty="0"/>
              <a:t> </a:t>
            </a:r>
            <a:r>
              <a:rPr lang="en-ID" dirty="0" err="1"/>
              <a:t>probabilitas</a:t>
            </a:r>
            <a:r>
              <a:rPr lang="en-ID" dirty="0"/>
              <a:t> </a:t>
            </a:r>
            <a:r>
              <a:rPr lang="en-ID" dirty="0" err="1"/>
              <a:t>matematis</a:t>
            </a:r>
            <a:r>
              <a:rPr lang="en-ID" dirty="0"/>
              <a:t>.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hanya</a:t>
            </a:r>
            <a:r>
              <a:rPr lang="en-ID" dirty="0"/>
              <a:t> </a:t>
            </a:r>
            <a:r>
              <a:rPr lang="en-ID" dirty="0" err="1"/>
              <a:t>kuat</a:t>
            </a:r>
            <a:r>
              <a:rPr lang="en-ID" dirty="0"/>
              <a:t> di </a:t>
            </a:r>
            <a:r>
              <a:rPr lang="en-ID" dirty="0" err="1"/>
              <a:t>atas</a:t>
            </a:r>
            <a:r>
              <a:rPr lang="en-ID" dirty="0"/>
              <a:t> </a:t>
            </a:r>
            <a:r>
              <a:rPr lang="en-ID" dirty="0" err="1"/>
              <a:t>kertas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i="1" dirty="0"/>
              <a:t>Recall</a:t>
            </a:r>
            <a:r>
              <a:rPr lang="en-ID" dirty="0"/>
              <a:t> 94,4%, </a:t>
            </a:r>
            <a:r>
              <a:rPr lang="en-ID" dirty="0" err="1"/>
              <a:t>tetapi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bisnis</a:t>
            </a:r>
            <a:r>
              <a:rPr lang="en-ID" dirty="0"/>
              <a:t> </a:t>
            </a:r>
            <a:r>
              <a:rPr lang="en-ID" dirty="0" err="1"/>
              <a:t>diproyeksikan</a:t>
            </a:r>
            <a:r>
              <a:rPr lang="en-ID" dirty="0"/>
              <a:t> </a:t>
            </a:r>
            <a:r>
              <a:rPr lang="en-ID" dirty="0" err="1"/>
              <a:t>mampu</a:t>
            </a:r>
            <a:r>
              <a:rPr lang="en-ID" dirty="0"/>
              <a:t> </a:t>
            </a:r>
            <a:r>
              <a:rPr lang="en-ID" dirty="0" err="1"/>
              <a:t>menyelamatkan</a:t>
            </a:r>
            <a:r>
              <a:rPr lang="en-ID" dirty="0"/>
              <a:t> </a:t>
            </a:r>
            <a:r>
              <a:rPr lang="en-ID" dirty="0" err="1"/>
              <a:t>pendapatan</a:t>
            </a:r>
            <a:r>
              <a:rPr lang="en-ID" dirty="0"/>
              <a:t> </a:t>
            </a:r>
            <a:r>
              <a:rPr lang="en-ID" dirty="0" err="1"/>
              <a:t>hingga</a:t>
            </a:r>
            <a:r>
              <a:rPr lang="en-ID" dirty="0"/>
              <a:t> </a:t>
            </a:r>
            <a:r>
              <a:rPr lang="en-ID" b="1" dirty="0"/>
              <a:t>7,56 </a:t>
            </a:r>
            <a:r>
              <a:rPr lang="en-ID" b="1" dirty="0" err="1"/>
              <a:t>Miliar</a:t>
            </a:r>
            <a:r>
              <a:rPr lang="en-ID" b="1" dirty="0"/>
              <a:t> Rupiah</a:t>
            </a:r>
            <a:r>
              <a:rPr lang="en-ID" dirty="0"/>
              <a:t>.</a:t>
            </a:r>
          </a:p>
          <a:p>
            <a:r>
              <a:rPr lang="en-ID" dirty="0"/>
              <a:t>Ini </a:t>
            </a:r>
            <a:r>
              <a:rPr lang="en-ID" dirty="0" err="1"/>
              <a:t>bukan</a:t>
            </a:r>
            <a:r>
              <a:rPr lang="en-ID" dirty="0"/>
              <a:t> </a:t>
            </a:r>
            <a:r>
              <a:rPr lang="en-ID" dirty="0" err="1"/>
              <a:t>lagi</a:t>
            </a:r>
            <a:r>
              <a:rPr lang="en-ID" dirty="0"/>
              <a:t> </a:t>
            </a:r>
            <a:r>
              <a:rPr lang="en-ID" dirty="0" err="1"/>
              <a:t>sekadar</a:t>
            </a:r>
            <a:r>
              <a:rPr lang="en-ID" dirty="0"/>
              <a:t> </a:t>
            </a:r>
            <a:r>
              <a:rPr lang="en-ID" dirty="0" err="1"/>
              <a:t>eksperimen</a:t>
            </a:r>
            <a:r>
              <a:rPr lang="en-ID" dirty="0"/>
              <a:t> data, </a:t>
            </a:r>
            <a:r>
              <a:rPr lang="en-ID" dirty="0" err="1"/>
              <a:t>melainkan</a:t>
            </a:r>
            <a:r>
              <a:rPr lang="en-ID" dirty="0"/>
              <a:t> </a:t>
            </a:r>
            <a:r>
              <a:rPr lang="en-ID" dirty="0" err="1"/>
              <a:t>aset</a:t>
            </a:r>
            <a:r>
              <a:rPr lang="en-ID" dirty="0"/>
              <a:t> </a:t>
            </a:r>
            <a:r>
              <a:rPr lang="en-ID" dirty="0" err="1"/>
              <a:t>pelindung</a:t>
            </a:r>
            <a:r>
              <a:rPr lang="en-ID" dirty="0"/>
              <a:t> </a:t>
            </a:r>
            <a:r>
              <a:rPr lang="en-ID" i="1" dirty="0"/>
              <a:t>revenue</a:t>
            </a:r>
            <a:r>
              <a:rPr lang="en-ID" dirty="0"/>
              <a:t> </a:t>
            </a:r>
            <a:r>
              <a:rPr lang="en-ID" dirty="0" err="1"/>
              <a:t>perusahaan</a:t>
            </a:r>
            <a:r>
              <a:rPr lang="en-ID" dirty="0"/>
              <a:t> yang </a:t>
            </a:r>
            <a:r>
              <a:rPr lang="en-ID" dirty="0" err="1"/>
              <a:t>sudah</a:t>
            </a:r>
            <a:r>
              <a:rPr lang="en-ID" dirty="0"/>
              <a:t> </a:t>
            </a:r>
            <a:r>
              <a:rPr lang="en-ID" dirty="0" err="1"/>
              <a:t>matang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skala</a:t>
            </a:r>
            <a:r>
              <a:rPr lang="en-ID" dirty="0"/>
              <a:t> </a:t>
            </a:r>
            <a:r>
              <a:rPr lang="en-ID" dirty="0" err="1"/>
              <a:t>produksi</a:t>
            </a:r>
            <a:r>
              <a:rPr lang="en-ID" dirty="0"/>
              <a:t>. Langkah </a:t>
            </a:r>
            <a:r>
              <a:rPr lang="en-ID" dirty="0" err="1"/>
              <a:t>taktis</a:t>
            </a:r>
            <a:r>
              <a:rPr lang="en-ID" dirty="0"/>
              <a:t>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selanjutnya</a:t>
            </a:r>
            <a:r>
              <a:rPr lang="en-ID" dirty="0"/>
              <a:t> sangat </a:t>
            </a:r>
            <a:r>
              <a:rPr lang="en-ID" dirty="0" err="1"/>
              <a:t>jelas</a:t>
            </a:r>
            <a:r>
              <a:rPr lang="en-ID" dirty="0"/>
              <a:t>: </a:t>
            </a:r>
            <a:r>
              <a:rPr lang="en-ID" dirty="0" err="1"/>
              <a:t>persetujuan</a:t>
            </a:r>
            <a:r>
              <a:rPr lang="en-ID" dirty="0"/>
              <a:t> </a:t>
            </a:r>
            <a:r>
              <a:rPr lang="en-ID" i="1" dirty="0"/>
              <a:t>deployment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lingkungan</a:t>
            </a:r>
            <a:r>
              <a:rPr lang="en-ID" dirty="0"/>
              <a:t> </a:t>
            </a:r>
            <a:r>
              <a:rPr lang="en-ID" dirty="0" err="1"/>
              <a:t>produksi</a:t>
            </a:r>
            <a:r>
              <a:rPr lang="en-ID" dirty="0"/>
              <a:t>. Mari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ubah</a:t>
            </a:r>
            <a:r>
              <a:rPr lang="en-ID" dirty="0"/>
              <a:t> </a:t>
            </a:r>
            <a:r>
              <a:rPr lang="en-ID" dirty="0" err="1"/>
              <a:t>potensi</a:t>
            </a:r>
            <a:r>
              <a:rPr lang="en-ID" dirty="0"/>
              <a:t> </a:t>
            </a:r>
            <a:r>
              <a:rPr lang="en-ID" dirty="0" err="1"/>
              <a:t>miliaran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realitas</a:t>
            </a:r>
            <a:r>
              <a:rPr lang="en-ID" dirty="0"/>
              <a:t> </a:t>
            </a:r>
            <a:r>
              <a:rPr lang="en-ID" dirty="0" err="1"/>
              <a:t>bisnis</a:t>
            </a:r>
            <a:r>
              <a:rPr lang="en-ID" dirty="0"/>
              <a:t> di </a:t>
            </a:r>
            <a:r>
              <a:rPr lang="en-ID" dirty="0" err="1"/>
              <a:t>kuartal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A53CD-9046-436E-9E59-0B0DEDC34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70D51B-28EF-7ED6-8506-8DBF00EBFF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BFA1C8-626C-4CC8-135B-ACEDAABFB8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36EF0-DD42-FD85-741F-8B56E1A398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5997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C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243566"/>
          </a:solidFill>
          <a:ln w="12700">
            <a:solidFill>
              <a:srgbClr val="2435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731520"/>
            <a:ext cx="2743200" cy="274320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474720"/>
            <a:ext cx="2286000" cy="2286000"/>
          </a:xfrm>
          <a:prstGeom prst="ellipse">
            <a:avLst/>
          </a:prstGeom>
          <a:solidFill>
            <a:srgbClr val="243566"/>
          </a:solidFill>
          <a:ln w="12700">
            <a:solidFill>
              <a:srgbClr val="2435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534924"/>
            <a:ext cx="2926080" cy="347472"/>
          </a:xfrm>
          <a:prstGeom prst="roundRect">
            <a:avLst>
              <a:gd name="adj" fmla="val 31579"/>
            </a:avLst>
          </a:prstGeom>
          <a:solidFill>
            <a:srgbClr val="3B82F6">
              <a:alpha val="8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51663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0A5FA"/>
                </a:solidFill>
              </a:rPr>
              <a:t>  DATA SCIENCE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110996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Churn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48640" y="1862022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System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548640" y="2768988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Membangun Sistem Deteksi Dini Pelanggan Berisiko Churn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menggunakan Random Forest &amp; Machine Learning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432" y="3642240"/>
            <a:ext cx="3200400" cy="27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75347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Khaefin Maulana Rizky  ·  50424625  ·  2IA05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7996" y="4063165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— Bootcamp Data Science HIMTI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7373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52"/>
          </a:solidFill>
          <a:ln w="12700">
            <a:solidFill>
              <a:srgbClr val="1A2B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Mengapa Churn Adalah Ancaman Senyap?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37160" y="1097280"/>
            <a:ext cx="2834640" cy="365760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17043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💸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74320" y="16916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Biaya Akuisisi 5–7× Lebih Mahal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74320" y="2304288"/>
            <a:ext cx="2560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Mendapatkan pelanggan baru jauh lebih mahal dibandingkan mempertahankan pelanggan yang ada.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3310128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EBF2FE"/>
          </a:solidFill>
          <a:ln w="12700">
            <a:solidFill>
              <a:srgbClr val="C8DC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3364992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5–7×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74320" y="3931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biaya lebih tinggi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82112" y="1097280"/>
            <a:ext cx="2834640" cy="365760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19272" y="117043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⚠️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319272" y="16916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Terjadi Tanpa Peringatan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319272" y="2304288"/>
            <a:ext cx="2560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baru menyadari kehilangan setelah pelanggan pergi. Tidak ada sinyal deteksi dini yang berjalan.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19272" y="3310128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EBF2FE"/>
          </a:solidFill>
          <a:ln w="12700">
            <a:solidFill>
              <a:srgbClr val="C8DC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19272" y="3364992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319272" y="3931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peringatan dini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27064" y="1097280"/>
            <a:ext cx="2834640" cy="365760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64224" y="117043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364224" y="16916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Intervensi Tidak Tepat Sasaran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364224" y="2304288"/>
            <a:ext cx="2560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Voucher dikirim massal tanpa tahu siapa yang benar-benar berisiko — pemborosan anggaran retensi.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64224" y="3310128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EBF2FE"/>
          </a:solidFill>
          <a:ln w="12700">
            <a:solidFill>
              <a:srgbClr val="C8DC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64224" y="3364992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Rp 2 Jt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364224" y="3931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 hilang per pelanggan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B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PENDEKATAN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Metodologi</a:t>
            </a: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CRISP-DM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01168" y="1325880"/>
            <a:ext cx="1572768" cy="3566160"/>
          </a:xfrm>
          <a:prstGeom prst="roundRect">
            <a:avLst>
              <a:gd name="adj" fmla="val 6977"/>
            </a:avLst>
          </a:prstGeom>
          <a:solidFill>
            <a:srgbClr val="243566"/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81328"/>
            <a:ext cx="694944" cy="69494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8132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755648" y="1691640"/>
            <a:ext cx="201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0A5FA"/>
                </a:solidFill>
              </a:rPr>
              <a:t>›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74320" y="2286000"/>
            <a:ext cx="14264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2608" y="2999232"/>
            <a:ext cx="1389888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Definisi masalah &amp; target Recall ≥ 80%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938528" y="1325880"/>
            <a:ext cx="1572768" cy="3566160"/>
          </a:xfrm>
          <a:prstGeom prst="roundRect">
            <a:avLst>
              <a:gd name="adj" fmla="val 6977"/>
            </a:avLst>
          </a:prstGeom>
          <a:solidFill>
            <a:srgbClr val="243566"/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77440" y="1481328"/>
            <a:ext cx="694944" cy="69494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77440" y="148132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08" y="1691640"/>
            <a:ext cx="201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0A5FA"/>
                </a:solidFill>
              </a:rPr>
              <a:t>›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011680" y="2286000"/>
            <a:ext cx="14264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029968" y="2999232"/>
            <a:ext cx="1389888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37.010 pelanggan, deteksi pola churn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75888" y="1325880"/>
            <a:ext cx="1572768" cy="3566160"/>
          </a:xfrm>
          <a:prstGeom prst="roundRect">
            <a:avLst>
              <a:gd name="adj" fmla="val 6977"/>
            </a:avLst>
          </a:prstGeom>
          <a:solidFill>
            <a:srgbClr val="243566"/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0" y="1481328"/>
            <a:ext cx="694944" cy="69494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0" y="148132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230368" y="1691640"/>
            <a:ext cx="201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0A5FA"/>
                </a:solidFill>
              </a:rPr>
              <a:t>›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749040" y="2286000"/>
            <a:ext cx="14264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767328" y="2999232"/>
            <a:ext cx="1389888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values, encoding, SMOTE balancing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13248" y="1325880"/>
            <a:ext cx="1572768" cy="3566160"/>
          </a:xfrm>
          <a:prstGeom prst="roundRect">
            <a:avLst>
              <a:gd name="adj" fmla="val 6977"/>
            </a:avLst>
          </a:prstGeom>
          <a:solidFill>
            <a:srgbClr val="243566"/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52160" y="1481328"/>
            <a:ext cx="694944" cy="69494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52160" y="148132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967728" y="1691640"/>
            <a:ext cx="201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0A5FA"/>
                </a:solidFill>
              </a:rPr>
              <a:t>›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486400" y="2286000"/>
            <a:ext cx="14264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504688" y="2999232"/>
            <a:ext cx="1389888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100 pohon, feature importance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150608" y="1325880"/>
            <a:ext cx="1572768" cy="3566160"/>
          </a:xfrm>
          <a:prstGeom prst="roundRect">
            <a:avLst>
              <a:gd name="adj" fmla="val 6977"/>
            </a:avLst>
          </a:prstGeom>
          <a:solidFill>
            <a:srgbClr val="243566"/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0" y="1481328"/>
            <a:ext cx="694944" cy="69494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89520" y="148132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223760" y="2286000"/>
            <a:ext cx="14264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242048" y="2999232"/>
            <a:ext cx="1389888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Matrix, ROC-AUC, simulasi finansial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47472" y="4700016"/>
            <a:ext cx="8229600" cy="301752"/>
          </a:xfrm>
          <a:prstGeom prst="roundRect">
            <a:avLst>
              <a:gd name="adj" fmla="val 30303"/>
            </a:avLst>
          </a:prstGeom>
          <a:solidFill>
            <a:srgbClr val="243566"/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709160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CFA"/>
                </a:solidFill>
              </a:rPr>
              <a:t>Tech Stack: Python  ·  Scikit-Learn  ·  SMOTE (imbalanced-learn)  ·  Pandas  ·  Seaborn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52"/>
          </a:solidFill>
          <a:ln w="12700">
            <a:solidFill>
              <a:srgbClr val="1A2B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 Random Forest pada Test Set (7.402 data)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1078992"/>
            <a:ext cx="1993392" cy="1920240"/>
          </a:xfrm>
          <a:prstGeom prst="roundRect">
            <a:avLst>
              <a:gd name="adj" fmla="val 5714"/>
            </a:avLst>
          </a:prstGeom>
          <a:solidFill>
            <a:srgbClr val="1A2B52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1143000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" y="1463040"/>
            <a:ext cx="19933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94.4%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20040" y="2194560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≥ 80% ✓ TERCAPAI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04872" y="1078992"/>
            <a:ext cx="1993392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04872" y="1143000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04872" y="1463040"/>
            <a:ext cx="19933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A2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0.978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496312" y="2194560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Diskriminasi sangat tinggi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81144" y="1078992"/>
            <a:ext cx="1993392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81144" y="1143000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81144" y="1463040"/>
            <a:ext cx="19933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A2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94.0%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672584" y="2194560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Prediksi churn sangat akurat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757416" y="1078992"/>
            <a:ext cx="1993392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57416" y="1143000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57416" y="1463040"/>
            <a:ext cx="19933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A2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0.940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848856" y="2194560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Keseimbangan recall &amp; precision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28600" y="277977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Matrix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28600" y="3127248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1752" y="316382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28600" y="335584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3.139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274320" y="3703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Churn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Terdeteksi Benar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203704" y="3127248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76856" y="316382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203704" y="335584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259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2249424" y="3703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Bukan Churn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Salah Prediksi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28600" y="4096512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1752" y="4133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28600" y="432511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225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274320" y="467258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Terlewat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Bahaya!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203704" y="4096512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76856" y="4133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203704" y="432511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3.779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2249424" y="467258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Terdeteksi Benar ✓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451822" y="303580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10 Fitur Paling Berpengaruh</a:t>
            </a:r>
            <a:endParaRPr lang="en-US" sz="120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F7D90A22-0840-6596-732D-971D6950D2B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r="916" b="1901"/>
          <a:stretch>
            <a:fillRect/>
          </a:stretch>
        </p:blipFill>
        <p:spPr>
          <a:xfrm>
            <a:off x="4672584" y="3301327"/>
            <a:ext cx="3086753" cy="168431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B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DAMPAK FINANSIAL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Simulasi Kerugian yang Dapat Dicegah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243566"/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Asumsi: CLV per pelanggan = Rp 2.000.000/tahun  ·  Biaya voucher intervensi = Rp 150.000/orang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14300" y="1797449"/>
            <a:ext cx="2834640" cy="3154680"/>
          </a:xfrm>
          <a:prstGeom prst="roundRect">
            <a:avLst>
              <a:gd name="adj" fmla="val 3871"/>
            </a:avLst>
          </a:prstGeom>
          <a:solidFill>
            <a:srgbClr val="2D1515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05740" y="1888889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❌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1228" y="1923179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FN — Churn Terlewat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24028" y="2382665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225 pelanggan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5740" y="2684417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Rp 450.000.000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24028" y="3351929"/>
            <a:ext cx="2606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 penuh hilang per pelanggan yang tidak terdeteksi. Kerugian terbesar!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59252" y="1797449"/>
            <a:ext cx="2834640" cy="3154680"/>
          </a:xfrm>
          <a:prstGeom prst="roundRect">
            <a:avLst>
              <a:gd name="adj" fmla="val 3871"/>
            </a:avLst>
          </a:prstGeom>
          <a:solidFill>
            <a:srgbClr val="2B1F0A"/>
          </a:solidFill>
          <a:ln w="12700">
            <a:solidFill>
              <a:srgbClr val="F97316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50692" y="1888889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707892" y="1895747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 — Voucher Sia-Sia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268980" y="2382665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259 pelanggan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50692" y="2684417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Rp 38.850.000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268980" y="3351929"/>
            <a:ext cx="2606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biaya voucher. Jauh lebih murah dari kerugian FN — trade-off yang sangat menguntungkan.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04204" y="1797449"/>
            <a:ext cx="2834640" cy="3154680"/>
          </a:xfrm>
          <a:prstGeom prst="roundRect">
            <a:avLst>
              <a:gd name="adj" fmla="val 3871"/>
            </a:avLst>
          </a:prstGeom>
          <a:solidFill>
            <a:srgbClr val="0D2218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95644" y="1888889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734556" y="1911749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NET: Penghematan Efektif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313932" y="2382665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94.4% terdeteksi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95644" y="2684417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Rp 7,56 Miliar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313932" y="3351929"/>
            <a:ext cx="2606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Estimasi CLV yang berhasil diselamatkan dari 3.779 pelanggan churn yang berhasil dideteksi.</a:t>
            </a:r>
            <a:endParaRPr lang="en-US" sz="1050" dirty="0"/>
          </a:p>
        </p:txBody>
      </p:sp>
      <p:sp>
        <p:nvSpPr>
          <p:cNvPr id="25" name="Shape 31">
            <a:extLst>
              <a:ext uri="{FF2B5EF4-FFF2-40B4-BE49-F238E27FC236}">
                <a16:creationId xmlns:a16="http://schemas.microsoft.com/office/drawing/2014/main" id="{BF013370-9211-2E58-596C-0BA01C342BF9}"/>
              </a:ext>
            </a:extLst>
          </p:cNvPr>
          <p:cNvSpPr/>
          <p:nvPr/>
        </p:nvSpPr>
        <p:spPr>
          <a:xfrm>
            <a:off x="617220" y="4700016"/>
            <a:ext cx="8229600" cy="301752"/>
          </a:xfrm>
          <a:prstGeom prst="roundRect">
            <a:avLst>
              <a:gd name="adj" fmla="val 30303"/>
            </a:avLst>
          </a:prstGeom>
          <a:solidFill>
            <a:srgbClr val="243566"/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D" dirty="0"/>
          </a:p>
        </p:txBody>
      </p:sp>
      <p:sp>
        <p:nvSpPr>
          <p:cNvPr id="24" name="Text 22"/>
          <p:cNvSpPr/>
          <p:nvPr/>
        </p:nvSpPr>
        <p:spPr>
          <a:xfrm>
            <a:off x="457200" y="4695444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Meminimalkan FN = Memaksimalkan penyelamatan pendapatan. Recall 94.4% sudah melampaui target ≥ 80%!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52"/>
          </a:solidFill>
          <a:ln w="12700">
            <a:solidFill>
              <a:srgbClr val="1A2B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 RETENSI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Segmentasi &amp; Intervensi Otomatis Berbasis AI</a:t>
            </a:r>
            <a:endParaRPr lang="en-US" sz="2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28600" y="1051560"/>
          <a:ext cx="3474720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3931920" y="1078992"/>
            <a:ext cx="493776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EF4444">
                <a:alpha val="7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069080" y="113385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KRITIS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069080" y="140817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75%  ·  3.670 pelanggan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989320" y="1152144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Hubungi CS personal + Diskon 30% eksklusif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989320" y="1572768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Dalam 24 Jam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931920" y="1975104"/>
            <a:ext cx="493776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F97316">
                <a:alpha val="7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069080" y="20299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TINGGI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069080" y="230428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50–74%  ·  391 pelanggan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989320" y="2048256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Voucher cashback 20% via email/push notif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989320" y="2468880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3–5 Hari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931920" y="2871216"/>
            <a:ext cx="493776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EAB308">
                <a:alpha val="7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069080" y="29260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SEDANG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069080" y="320040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30–49%  ·  420 pelanggan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989320" y="2944368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engagement + Bonus loyalty points 2×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989320" y="3364992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1–2 Minggu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931920" y="3767328"/>
            <a:ext cx="493776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22C55E">
                <a:alpha val="7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069080" y="382219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RENDAH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069080" y="409651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30%  ·  2.921 pelanggan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5989320" y="384048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Newsletter rutin + Notifikasi promo biasa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5989320" y="4261104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Bulanan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3931920" y="4773168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berjalan otomatis setiap hari — mengklasifikasikan seluruh basis pelanggan &amp; memicu intervensi tanpa campur tangan manual.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C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RENCANA DEPLOYMENT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Operasional Model &amp; Target Pengguna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256032" cy="25603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" y="1490472"/>
            <a:ext cx="27432" cy="658368"/>
          </a:xfrm>
          <a:prstGeom prst="rect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17043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Minggu 1–2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Model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5800" y="1664208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Integrasikan Random Forest ke pipeline data warehouse. Set up daily batch scoring otomatis.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2194560"/>
            <a:ext cx="256032" cy="25603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" y="2450592"/>
            <a:ext cx="27432" cy="658368"/>
          </a:xfrm>
          <a:prstGeom prst="rect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13055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Minggu 3–4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237744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Integrasi CRM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85800" y="2624328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Sambungkan output segmentasi ke sistem CRM untuk trigger intervensi otomatis per segmen.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3154680"/>
            <a:ext cx="256032" cy="25603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" y="3410712"/>
            <a:ext cx="27432" cy="658368"/>
          </a:xfrm>
          <a:prstGeom prst="rect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09067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Bulan 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5800" y="333756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A/B Testing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85800" y="3584448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efektivitas intervensi per segmen &amp; ukur uplift terhadap churn rate aktual.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4114800"/>
            <a:ext cx="256032" cy="25603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05079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Bulan 3+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85800" y="429768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 &amp; Retrain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85800" y="4544568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real-time + retrain model setiap kuartal dengan data terbaru.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63440" y="1115568"/>
            <a:ext cx="4251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Pengguna &amp; Peran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63440" y="1536192"/>
            <a:ext cx="4251960" cy="804672"/>
          </a:xfrm>
          <a:prstGeom prst="roundRect">
            <a:avLst>
              <a:gd name="adj" fmla="val 11364"/>
            </a:avLst>
          </a:prstGeom>
          <a:solidFill>
            <a:srgbClr val="243566"/>
          </a:solidFill>
          <a:ln w="12700">
            <a:solidFill>
              <a:srgbClr val="3B82F6">
                <a:alpha val="3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36592" y="1581912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👔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230368" y="159105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/ Direksi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230368" y="1883664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Memantau dashboard KPI churn rate &amp; ROI intervensi bulanan. Decision maker untuk anggaran retensi.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63440" y="2432304"/>
            <a:ext cx="4251960" cy="804672"/>
          </a:xfrm>
          <a:prstGeom prst="roundRect">
            <a:avLst>
              <a:gd name="adj" fmla="val 11364"/>
            </a:avLst>
          </a:prstGeom>
          <a:solidFill>
            <a:srgbClr val="243566"/>
          </a:solidFill>
          <a:ln w="12700">
            <a:solidFill>
              <a:srgbClr val="3B82F6">
                <a:alpha val="3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36592" y="2478024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230368" y="248716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Analyst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230368" y="2779776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Menganalisis tren segmen churn, melaporkan efektivitas kampanye retensi &amp; penyesuaian strategi.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63440" y="3328416"/>
            <a:ext cx="4251960" cy="804672"/>
          </a:xfrm>
          <a:prstGeom prst="roundRect">
            <a:avLst>
              <a:gd name="adj" fmla="val 11364"/>
            </a:avLst>
          </a:prstGeom>
          <a:solidFill>
            <a:srgbClr val="243566"/>
          </a:solidFill>
          <a:ln w="12700">
            <a:solidFill>
              <a:srgbClr val="3B82F6">
                <a:alpha val="3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36592" y="3374136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5230368" y="338328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 CRM / Marketing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230368" y="367588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Mengeksekusi intervensi otomatis: mengirim voucher, mengatur campaign email, dan personal outreach.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63440" y="4224528"/>
            <a:ext cx="4251960" cy="804672"/>
          </a:xfrm>
          <a:prstGeom prst="roundRect">
            <a:avLst>
              <a:gd name="adj" fmla="val 11364"/>
            </a:avLst>
          </a:prstGeom>
          <a:solidFill>
            <a:srgbClr val="243566"/>
          </a:solidFill>
          <a:ln w="12700">
            <a:solidFill>
              <a:srgbClr val="3B82F6">
                <a:alpha val="3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36592" y="4270248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5230368" y="427939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Engineer / MLOps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230368" y="45720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Memelihara pipeline scoring harian, monitoring model drift, dan retraining berkala setiap kuartal.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C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243566"/>
          </a:solidFill>
          <a:ln w="12700">
            <a:solidFill>
              <a:srgbClr val="2435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200400" cy="3200400"/>
          </a:xfrm>
          <a:prstGeom prst="ellipse">
            <a:avLst/>
          </a:prstGeom>
          <a:solidFill>
            <a:srgbClr val="243566"/>
          </a:solidFill>
          <a:ln w="12700">
            <a:solidFill>
              <a:srgbClr val="2435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74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EKSEKUTIF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Siap Operasional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untuk Skala Production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02920" y="1965960"/>
            <a:ext cx="1920240" cy="1325880"/>
          </a:xfrm>
          <a:prstGeom prst="roundRect">
            <a:avLst>
              <a:gd name="adj" fmla="val 8276"/>
            </a:avLst>
          </a:prstGeom>
          <a:solidFill>
            <a:srgbClr val="243566"/>
          </a:solidFill>
          <a:ln w="12700">
            <a:solidFill>
              <a:srgbClr val="3B82F6">
                <a:alpha val="6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143000" y="2029968"/>
            <a:ext cx="457200" cy="4572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2029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2542032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94.4%</a:t>
            </a:r>
            <a:endParaRPr lang="en-US" sz="10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Melampaui Target ≥80%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560320" y="1965960"/>
            <a:ext cx="1920240" cy="1325880"/>
          </a:xfrm>
          <a:prstGeom prst="roundRect">
            <a:avLst>
              <a:gd name="adj" fmla="val 8276"/>
            </a:avLst>
          </a:prstGeom>
          <a:solidFill>
            <a:srgbClr val="243566"/>
          </a:solidFill>
          <a:ln w="12700">
            <a:solidFill>
              <a:srgbClr val="3B82F6">
                <a:alpha val="6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2029968"/>
            <a:ext cx="457200" cy="4572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2029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51760" y="2542032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Segmentasi 4 Tier</a:t>
            </a:r>
            <a:endParaRPr lang="en-US" sz="10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Otomatis Real-Time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17720" y="1965960"/>
            <a:ext cx="1920240" cy="1325880"/>
          </a:xfrm>
          <a:prstGeom prst="roundRect">
            <a:avLst>
              <a:gd name="adj" fmla="val 8276"/>
            </a:avLst>
          </a:prstGeom>
          <a:solidFill>
            <a:srgbClr val="243566"/>
          </a:solidFill>
          <a:ln w="12700">
            <a:solidFill>
              <a:srgbClr val="3B82F6">
                <a:alpha val="6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257800" y="2029968"/>
            <a:ext cx="457200" cy="4572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57800" y="2029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09160" y="2542032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Positif</a:t>
            </a:r>
            <a:endParaRPr lang="en-US" sz="10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Estimasi Rp 7,56M diselamatkan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675120" y="1965960"/>
            <a:ext cx="1920240" cy="1325880"/>
          </a:xfrm>
          <a:prstGeom prst="roundRect">
            <a:avLst>
              <a:gd name="adj" fmla="val 8276"/>
            </a:avLst>
          </a:prstGeom>
          <a:solidFill>
            <a:srgbClr val="243566"/>
          </a:solidFill>
          <a:ln w="12700">
            <a:solidFill>
              <a:srgbClr val="3B82F6">
                <a:alpha val="6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0" y="2029968"/>
            <a:ext cx="457200" cy="4572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2029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766560" y="2542032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3 Bulan</a:t>
            </a:r>
            <a:endParaRPr lang="en-US" sz="10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Siap Deploy Production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3429000"/>
            <a:ext cx="8138160" cy="1463040"/>
          </a:xfrm>
          <a:prstGeom prst="roundRect">
            <a:avLst>
              <a:gd name="adj" fmla="val 7500"/>
            </a:avLst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3502152"/>
            <a:ext cx="777240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Dengan Recall 94,4% dan ROI positif yang terukur, model ini siap dioperasikan untuk menyelamatkan pendapatan secara berkelanjutan. Langkah selanjutnya: approval deployment ke pipeline produksi untuk mulai memberikan dampak nyata bagi bisnis dalam 2–4 minggu ke depan.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484632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Khaefin Maulana Rizky  ·  50424625  ·  2IA05  ·  Final Project Bootcamp Data Science HIMTI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DC8622-56A4-A841-7C26-6014C6DEF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C72FFEF-ED14-6632-CAEA-CBC5059A9636}"/>
              </a:ext>
            </a:extLst>
          </p:cNvPr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243566"/>
          </a:solidFill>
          <a:ln w="12700">
            <a:solidFill>
              <a:srgbClr val="243566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72106A0-54C7-EE7A-EFFA-B98709358FDB}"/>
              </a:ext>
            </a:extLst>
          </p:cNvPr>
          <p:cNvSpPr/>
          <p:nvPr/>
        </p:nvSpPr>
        <p:spPr>
          <a:xfrm>
            <a:off x="-1371600" y="3200400"/>
            <a:ext cx="3200400" cy="3200400"/>
          </a:xfrm>
          <a:prstGeom prst="ellipse">
            <a:avLst/>
          </a:prstGeom>
          <a:solidFill>
            <a:srgbClr val="243566"/>
          </a:solidFill>
          <a:ln w="12700">
            <a:solidFill>
              <a:srgbClr val="243566"/>
            </a:solidFill>
            <a:prstDash val="solid"/>
          </a:ln>
        </p:spPr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EE3DB3FE-2240-ED96-E5C3-4EF350E98998}"/>
              </a:ext>
            </a:extLst>
          </p:cNvPr>
          <p:cNvSpPr/>
          <p:nvPr/>
        </p:nvSpPr>
        <p:spPr>
          <a:xfrm>
            <a:off x="502920" y="1840230"/>
            <a:ext cx="8138160" cy="1463040"/>
          </a:xfrm>
          <a:prstGeom prst="roundRect">
            <a:avLst>
              <a:gd name="adj" fmla="val 7500"/>
            </a:avLst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D" dirty="0"/>
          </a:p>
        </p:txBody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6C99D96B-3927-CE1B-C09C-EF2CC83334A7}"/>
              </a:ext>
            </a:extLst>
          </p:cNvPr>
          <p:cNvSpPr/>
          <p:nvPr/>
        </p:nvSpPr>
        <p:spPr>
          <a:xfrm>
            <a:off x="3094109" y="2274570"/>
            <a:ext cx="295578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Terimakasih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7728828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502</TotalTime>
  <Words>1712</Words>
  <Application>Microsoft Office PowerPoint</Application>
  <PresentationFormat>On-screen Show (16:9)</PresentationFormat>
  <Paragraphs>224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Prediction — Executive Briefing</dc:title>
  <dc:subject>PptxGenJS Presentation</dc:subject>
  <dc:creator>Khaefin Maulana Rizky</dc:creator>
  <cp:lastModifiedBy>Kefin Rizky</cp:lastModifiedBy>
  <cp:revision>6</cp:revision>
  <dcterms:created xsi:type="dcterms:W3CDTF">2026-06-09T09:44:11Z</dcterms:created>
  <dcterms:modified xsi:type="dcterms:W3CDTF">2026-08-17T04:55:02Z</dcterms:modified>
</cp:coreProperties>
</file>